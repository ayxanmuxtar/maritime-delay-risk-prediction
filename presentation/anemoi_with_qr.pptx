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75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R Codes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/>
          <p:nvPr/>
        </p:nvSpPr>
        <p:spPr>
          <a:xfrm>
            <a:off x="594360" y="457200"/>
            <a:ext cx="2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E8FF"/>
                </a:solidFill>
                <a:latin typeface="Aptos Display" pitchFamily="34" charset="0"/>
              </a:rPr>
              <a:t>ANEMOI</a:t>
            </a:r>
          </a:p>
        </p:txBody>
      </p:sp>
      <p:sp>
        <p:nvSpPr>
          <p:cNvPr id="3" name="Headline"/>
          <p:cNvSpPr/>
          <p:nvPr/>
        </p:nvSpPr>
        <p:spPr>
          <a:xfrm>
            <a:off x="594360" y="685800"/>
            <a:ext cx="1100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5FA"/>
                </a:solidFill>
                <a:latin typeface="Aptos Display" pitchFamily="34" charset="0"/>
              </a:rPr>
              <a:t>Scan to explore</a:t>
            </a:r>
          </a:p>
        </p:txBody>
      </p:sp>
      <p:sp>
        <p:nvSpPr>
          <p:cNvPr id="4" name="CardWebsite"/>
          <p:cNvSpPr/>
          <p:nvPr/>
        </p:nvSpPr>
        <p:spPr>
          <a:xfrm>
            <a:off x="1524000" y="1447800"/>
            <a:ext cx="3047400" cy="304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QRWebs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00200"/>
            <a:ext cx="2743200" cy="2743200"/>
          </a:xfrm>
          <a:prstGeom prst="rect">
            <a:avLst/>
          </a:prstGeom>
        </p:spPr>
      </p:pic>
      <p:sp>
        <p:nvSpPr>
          <p:cNvPr id="6" name="CardGithub"/>
          <p:cNvSpPr/>
          <p:nvPr/>
        </p:nvSpPr>
        <p:spPr>
          <a:xfrm>
            <a:off x="7620000" y="1447800"/>
            <a:ext cx="3047400" cy="304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QR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00200"/>
            <a:ext cx="2743200" cy="2743200"/>
          </a:xfrm>
          <a:prstGeom prst="rect">
            <a:avLst/>
          </a:prstGeom>
        </p:spPr>
      </p:pic>
      <p:sp>
        <p:nvSpPr>
          <p:cNvPr id="8" name="LabelWebsite"/>
          <p:cNvSpPr/>
          <p:nvPr/>
        </p:nvSpPr>
        <p:spPr>
          <a:xfrm>
            <a:off x="1524000" y="4648200"/>
            <a:ext cx="304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E8FF"/>
                </a:solidFill>
                <a:latin typeface="Aptos Display" pitchFamily="34" charset="0"/>
              </a:rPr>
              <a:t>Live Forecast</a:t>
            </a:r>
          </a:p>
        </p:txBody>
      </p:sp>
      <p:sp>
        <p:nvSpPr>
          <p:cNvPr id="9" name="URLWebsite"/>
          <p:cNvSpPr/>
          <p:nvPr/>
        </p:nvSpPr>
        <p:spPr>
          <a:xfrm>
            <a:off x="1524000" y="4990200"/>
            <a:ext cx="304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0" dirty="0">
                <a:solidFill>
                  <a:srgbClr val="8A9BB5"/>
                </a:solidFill>
                <a:latin typeface="Aptos" pitchFamily="34" charset="0"/>
              </a:rPr>
              <a:t>caspian-risk.vercel.app</a:t>
            </a:r>
          </a:p>
        </p:txBody>
      </p:sp>
      <p:sp>
        <p:nvSpPr>
          <p:cNvPr id="10" name="LabelGitHub"/>
          <p:cNvSpPr/>
          <p:nvPr/>
        </p:nvSpPr>
        <p:spPr>
          <a:xfrm>
            <a:off x="7620000" y="4648200"/>
            <a:ext cx="304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E8FF"/>
                </a:solidFill>
                <a:latin typeface="Aptos Display" pitchFamily="34" charset="0"/>
              </a:rPr>
              <a:t>GitHub Repo</a:t>
            </a:r>
          </a:p>
        </p:txBody>
      </p:sp>
      <p:sp>
        <p:nvSpPr>
          <p:cNvPr id="11" name="SubGitHub"/>
          <p:cNvSpPr/>
          <p:nvPr/>
        </p:nvSpPr>
        <p:spPr>
          <a:xfrm>
            <a:off x="7620000" y="4990200"/>
            <a:ext cx="304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0" dirty="0">
                <a:solidFill>
                  <a:srgbClr val="8A9BB5"/>
                </a:solidFill>
                <a:latin typeface="Aptos" pitchFamily="34" charset="0"/>
              </a:rPr>
              <a:t>Full pipeline &amp; notebooks</a:t>
            </a:r>
          </a:p>
        </p:txBody>
      </p:sp>
      <p:sp>
        <p:nvSpPr>
          <p:cNvPr id="12" name="Footer"/>
          <p:cNvSpPr/>
          <p:nvPr/>
        </p:nvSpPr>
        <p:spPr>
          <a:xfrm>
            <a:off x="10058400" y="6400800"/>
            <a:ext cx="16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4A5568"/>
                </a:solidFill>
                <a:latin typeface="Aptos" pitchFamily="34" charset="0"/>
              </a:rPr>
              <a:t>Anemoi  | 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ort_harbor_scene_at_dusk_or_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E8FF"/>
                </a:solidFill>
              </a:rPr>
              <a:t>ANEMOI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94360" y="13716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Caspian Maritime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Delay-Risk Forecast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21792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2F5FA"/>
                </a:solidFill>
              </a:rPr>
              <a:t>Turning raw weather into daily operational risk signals for Caspian Sea ports.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1792" y="3657600"/>
            <a:ext cx="1417320" cy="457200"/>
          </a:xfrm>
          <a:prstGeom prst="roundRect">
            <a:avLst>
              <a:gd name="adj" fmla="val 29412"/>
            </a:avLst>
          </a:prstGeom>
          <a:solidFill>
            <a:srgbClr val="9F53E6"/>
          </a:solidFill>
          <a:ln w="12700">
            <a:solidFill>
              <a:srgbClr val="9F5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" y="3657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</a:rPr>
              <a:t>5 Caspian ports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12848" y="3657600"/>
            <a:ext cx="1920240" cy="457200"/>
          </a:xfrm>
          <a:prstGeom prst="roundRect">
            <a:avLst>
              <a:gd name="adj" fmla="val 29412"/>
            </a:avLst>
          </a:prstGeom>
          <a:solidFill>
            <a:srgbClr val="69B7FF"/>
          </a:solidFill>
          <a:ln w="12700">
            <a:solidFill>
              <a:srgbClr val="69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12848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</a:rPr>
              <a:t>Rolling 30-day window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3657600"/>
            <a:ext cx="1234440" cy="457200"/>
          </a:xfrm>
          <a:prstGeom prst="roundRect">
            <a:avLst>
              <a:gd name="adj" fmla="val 29412"/>
            </a:avLst>
          </a:prstGeom>
          <a:solidFill>
            <a:srgbClr val="66C889"/>
          </a:solidFill>
          <a:ln w="12700">
            <a:solidFill>
              <a:srgbClr val="66C8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43400" y="3657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</a:rPr>
              <a:t>Action levels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&amp;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From weather tables to daily operational awareness.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07989"/>
            <a:ext cx="5166360" cy="4892040"/>
          </a:xfrm>
          <a:prstGeom prst="roundRect">
            <a:avLst>
              <a:gd name="adj" fmla="val 2243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E8FF"/>
                </a:solidFill>
              </a:rPr>
              <a:t>So what?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6152" y="23682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Summarizes 155 port-days every run: 5 cities × 31 days.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6152" y="28254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Transforms probabilities into actions: monitor, review, postpone.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152" y="32826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Exposes key conditions so the user sees why a day is risky.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4571999"/>
            <a:ext cx="960120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45"/>
                </a:solidFill>
              </a:rPr>
              <a:t>Limitation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4553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8B0C2"/>
                </a:solidFill>
              </a:rPr>
              <a:t>This predicts weather-based maritime-risk conditions, not confirmed vessel delays. Real AIS/port-delay labels are the next upgrade.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303520" cy="4892040"/>
          </a:xfrm>
          <a:prstGeom prst="roundRect">
            <a:avLst>
              <a:gd name="adj" fmla="val 2243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5FA"/>
                </a:solidFill>
              </a:rPr>
              <a:t>Team Anemoi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E8FF"/>
                </a:solidFill>
              </a:rPr>
              <a:t>Data Engineering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3317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2F5FA"/>
                </a:solidFill>
              </a:rPr>
              <a:t>Məhəmməd Sadıqov, Adil Həsənov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017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E8FF"/>
                </a:solidFill>
              </a:rPr>
              <a:t>Data Analysis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30175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2F5FA"/>
                </a:solidFill>
              </a:rPr>
              <a:t>Ayxan Muxtar, Məhəmməd Sadıqov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E8FF"/>
                </a:solidFill>
              </a:rPr>
              <a:t>Machine Learning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37033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2F5FA"/>
                </a:solidFill>
              </a:rPr>
              <a:t>Ayxan Muxtar, Əli Əliqulu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43891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E8FF"/>
                </a:solidFill>
              </a:rPr>
              <a:t>MLOps &amp;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4389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2F5FA"/>
                </a:solidFill>
              </a:rPr>
              <a:t>Əli Əliqulu, Adil Həsənov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5257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43800" y="52486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Weather forecasts are easy to find. Port-specific maritime risk is not.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E8FF"/>
                </a:solidFill>
              </a:rPr>
              <a:t>Gap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79"/>
            <a:ext cx="4937760" cy="13716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2F5FA"/>
                </a:solidFill>
              </a:rPr>
              <a:t>Caspian operators need a daily risk signal that combines city weather, visibility, and sea-state context — not just raw weather numbers.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93408" y="1609344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9B7FF"/>
                </a:solidFill>
              </a:rPr>
              <a:t>20,700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93408" y="202996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city-day records used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41080" y="146304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50808" y="160934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C889"/>
                </a:solidFill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50808" y="202996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ports monitored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0" y="146304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8128" y="160934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53E6"/>
                </a:solidFill>
              </a:rPr>
              <a:t>31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68128" y="202996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daily window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65760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Why raw forecasts are not enough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43799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Users still have to translate wind, fog, rain, and wave conditions into operational decisions.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365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0432" y="4773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Risk is threshold-based and port-specific; the same forecast can mean different operational impact.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A rolling maritime-risk calendar with clear levels, actions, and key conditions.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9B7FF"/>
                </a:solidFill>
              </a:rPr>
              <a:t>Input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6152" y="2368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Historical weather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6152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Visibility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152" y="3282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Wave proxy / sea-state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B0C2"/>
                </a:solidFill>
              </a:rPr>
              <a:t>→</a:t>
            </a:r>
            <a:endParaRPr lang="en-US" sz="31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F53E6"/>
                </a:solidFill>
              </a:rPr>
              <a:t>Model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02352" y="2368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Calibrated daily classifier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788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02352" y="2825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Threshold-tuned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02352" y="3282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Climatology fallback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B0C2"/>
                </a:solidFill>
              </a:rPr>
              <a:t>→</a:t>
            </a:r>
            <a:endParaRPr lang="en-US" sz="3100" dirty="0"/>
          </a:p>
        </p:txBody>
      </p:sp>
      <p:sp>
        <p:nvSpPr>
          <p:cNvPr id="23" name="Shape 21"/>
          <p:cNvSpPr/>
          <p:nvPr/>
        </p:nvSpPr>
        <p:spPr>
          <a:xfrm>
            <a:off x="8412480" y="1463040"/>
            <a:ext cx="3063240" cy="4251960"/>
          </a:xfrm>
          <a:prstGeom prst="roundRect">
            <a:avLst>
              <a:gd name="adj" fmla="val 3582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6C889"/>
                </a:solidFill>
              </a:rPr>
              <a:t>Output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86800" y="2331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42832" y="2368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Risk level: Low → Severe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0" y="2788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42832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Recommended action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42832" y="3282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Key conditions per day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6080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5FA"/>
                </a:solidFill>
              </a:rPr>
              <a:t>Big idea: make the model’s output understandable enough for quick planning, not just academic scoring.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Open-Meteo data is cleaned, engineered, stored, and refreshed through DuckDB + automation.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1874520"/>
            <a:ext cx="502920" cy="502920"/>
          </a:xfrm>
          <a:prstGeom prst="ellipse">
            <a:avLst/>
          </a:prstGeom>
          <a:solidFill>
            <a:srgbClr val="69B7FF"/>
          </a:solidFill>
          <a:ln w="12700">
            <a:solidFill>
              <a:srgbClr val="69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Ingest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743200"/>
            <a:ext cx="21031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0C2"/>
                </a:solidFill>
              </a:rPr>
              <a:t>Open-Meteo Archive, Forecast, Historical Forecast visibility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30752" y="1874520"/>
            <a:ext cx="502920" cy="502920"/>
          </a:xfrm>
          <a:prstGeom prst="ellipse">
            <a:avLst/>
          </a:prstGeom>
          <a:solidFill>
            <a:srgbClr val="9F53E6"/>
          </a:solidFill>
          <a:ln w="12700">
            <a:solidFill>
              <a:srgbClr val="9F5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1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Clean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67328" y="2743200"/>
            <a:ext cx="21031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0C2"/>
                </a:solidFill>
              </a:rPr>
              <a:t>Missing values, winsorization, date continuity, physical ranges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16002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11112" y="1874520"/>
            <a:ext cx="502920" cy="502920"/>
          </a:xfrm>
          <a:prstGeom prst="ellipse">
            <a:avLst/>
          </a:prstGeom>
          <a:solidFill>
            <a:srgbClr val="66C889"/>
          </a:solidFill>
          <a:ln w="12700">
            <a:solidFill>
              <a:srgbClr val="66C8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1112" y="191109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1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Feature Build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7688" y="2743200"/>
            <a:ext cx="21031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0C2"/>
                </a:solidFill>
              </a:rPr>
              <a:t>Rolling windows, lags, seasonality, anomalies, wave proxy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326880" y="1600200"/>
            <a:ext cx="2514600" cy="3474720"/>
          </a:xfrm>
          <a:prstGeom prst="roundRect">
            <a:avLst>
              <a:gd name="adj" fmla="val 4364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91472" y="1874520"/>
            <a:ext cx="502920" cy="502920"/>
          </a:xfrm>
          <a:prstGeom prst="ellipse">
            <a:avLst/>
          </a:prstGeom>
          <a:solidFill>
            <a:srgbClr val="F0A545"/>
          </a:solidFill>
          <a:ln w="12700">
            <a:solidFill>
              <a:srgbClr val="F0A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9147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1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041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Train &amp; Predict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8048" y="2743200"/>
            <a:ext cx="21031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0C2"/>
                </a:solidFill>
              </a:rPr>
              <a:t>Selected model retrained, rolling 30-day forecast exported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5532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E8FF"/>
                </a:solidFill>
              </a:rPr>
              <a:t>Database layers: raw → staging → analytics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7240" y="58887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0C2"/>
                </a:solidFill>
              </a:rPr>
              <a:t>Outputs: predictions/latest/daily.csv, monthly.csv, </a:t>
            </a:r>
            <a:r>
              <a:rPr lang="en-US" sz="1500" dirty="0" err="1">
                <a:solidFill>
                  <a:srgbClr val="A8B0C2"/>
                </a:solidFill>
              </a:rPr>
              <a:t>latest.json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Core: Features &amp; Risk Definition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The model predicts a defined maritime-risk condition, not guaranteed vessel delay.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166360" cy="4892040"/>
          </a:xfrm>
          <a:prstGeom prst="roundRect">
            <a:avLst>
              <a:gd name="adj" fmla="val 2243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5FA"/>
                </a:solidFill>
              </a:rPr>
              <a:t>Risk-day trigger examples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F5FA"/>
                </a:solidFill>
              </a:rPr>
              <a:t>Wind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B7FF"/>
                </a:solidFill>
              </a:rPr>
              <a:t>&gt; 50 km/h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F5FA"/>
                </a:solidFill>
              </a:rPr>
              <a:t>Gusts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6324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B7FF"/>
                </a:solidFill>
              </a:rPr>
              <a:t>&gt; 75 km/h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F5FA"/>
                </a:solidFill>
              </a:rPr>
              <a:t>Precipitation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45"/>
                </a:solidFill>
              </a:rPr>
              <a:t>&gt; 15 mm/day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F5FA"/>
                </a:solidFill>
              </a:rPr>
              <a:t>Waves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6324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53E6"/>
                </a:solidFill>
              </a:rPr>
              <a:t>&gt; 2.5 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F5FA"/>
                </a:solidFill>
              </a:rPr>
              <a:t>Visibility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6324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5B5B"/>
                </a:solidFill>
              </a:rPr>
              <a:t>&lt; 1000 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17320"/>
            <a:ext cx="5303520" cy="4892040"/>
          </a:xfrm>
          <a:prstGeom prst="roundRect">
            <a:avLst>
              <a:gd name="adj" fmla="val 2243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5FA"/>
                </a:solidFill>
              </a:rPr>
              <a:t>Leakage-safe model inputs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400300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02552" y="23682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2F5FA"/>
                </a:solidFill>
              </a:rPr>
              <a:t>Seasonal/cyclical calendar features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46520" y="2855595"/>
            <a:ext cx="10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02552" y="28254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2F5FA"/>
                </a:solidFill>
              </a:rPr>
              <a:t>Lagged and rolling weather history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33147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02552" y="32826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2F5FA"/>
                </a:solidFill>
              </a:rPr>
              <a:t>Anomaly scores vs normal city/date conditions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0805" y="37688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02552" y="3739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2F5FA"/>
                </a:solidFill>
              </a:rPr>
              <a:t>Wave-history context from the Caspian wave proxy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40805" y="455752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E8FF"/>
                </a:solidFill>
              </a:rPr>
              <a:t>Same-day threshold variables are excluded from training to avoid leakage.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Day 8 compares candidate algorithms; the selected model is retrained by the pipeline.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26651"/>
            <a:ext cx="3931920" cy="4800600"/>
          </a:xfrm>
          <a:prstGeom prst="roundRect">
            <a:avLst>
              <a:gd name="adj" fmla="val 3000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5FA"/>
                </a:solidFill>
              </a:rPr>
              <a:t>Selected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33319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9F53E6"/>
                </a:solidFill>
              </a:rPr>
              <a:t>LogisticRegression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9F53E6"/>
                </a:solidFill>
              </a:rPr>
              <a:t>calibrated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0C2"/>
                </a:solidFill>
              </a:rPr>
              <a:t>Chosen because it balances detection with probability quality.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572000"/>
            <a:ext cx="1600200" cy="403860"/>
          </a:xfrm>
          <a:prstGeom prst="roundRect">
            <a:avLst>
              <a:gd name="adj" fmla="val 29412"/>
            </a:avLst>
          </a:prstGeom>
          <a:solidFill>
            <a:srgbClr val="69B7FF"/>
          </a:solidFill>
          <a:ln w="12700">
            <a:solidFill>
              <a:srgbClr val="69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6367" y="4572000"/>
            <a:ext cx="1533953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</a:rPr>
              <a:t>sigmoid calibration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24912" y="4572000"/>
            <a:ext cx="1371600" cy="403860"/>
          </a:xfrm>
          <a:prstGeom prst="roundRect">
            <a:avLst>
              <a:gd name="adj" fmla="val 29412"/>
            </a:avLst>
          </a:prstGeom>
          <a:solidFill>
            <a:srgbClr val="66C889"/>
          </a:solidFill>
          <a:ln w="12700">
            <a:solidFill>
              <a:srgbClr val="66C8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24912" y="4572000"/>
            <a:ext cx="13716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A"/>
                </a:solidFill>
              </a:rPr>
              <a:t>threshold tuned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82312" y="1417320"/>
            <a:ext cx="6693408" cy="4800600"/>
          </a:xfrm>
          <a:prstGeom prst="roundRect">
            <a:avLst>
              <a:gd name="adj" fmla="val 2286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5FA"/>
                </a:solidFill>
              </a:rPr>
              <a:t>Model-selection rule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2400300"/>
            <a:ext cx="8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48072" y="23682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2F5FA"/>
                </a:solidFill>
              </a:rPr>
              <a:t>Compare candidate models on a 2024 holdout set.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2040" y="2862579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48072" y="28254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2F5FA"/>
                </a:solidFill>
              </a:rPr>
              <a:t>Require improvement over climatology on F1 / AUC / Brier.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92040" y="33147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48072" y="3282695"/>
            <a:ext cx="6035040" cy="52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2F5FA"/>
                </a:solidFill>
              </a:rPr>
              <a:t>Select the winner, then retrain that selected model in the production pipeline.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892040" y="4160520"/>
            <a:ext cx="61264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4663426"/>
            <a:ext cx="1732878" cy="36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E8FF"/>
                </a:solidFill>
              </a:rPr>
              <a:t>Why calibrated?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448056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B0C2"/>
                </a:solidFill>
              </a:rPr>
              <a:t>The website shows probabilities, so Brier score matters: values should behave like real estimated risk, not just ranks.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0C2"/>
                </a:solidFill>
              </a:rPr>
              <a:t>Rolling 30-day predictions with forecast + climatology sources.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334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56362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9B7FF"/>
                </a:solidFill>
              </a:rPr>
              <a:t>0.798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ROC-AUC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15768" y="156362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C889"/>
                </a:solidFill>
              </a:rPr>
              <a:t>0.324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15768" y="1984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F1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56362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45"/>
                </a:solidFill>
              </a:rPr>
              <a:t>0.622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90288" y="1984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156362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53E6"/>
                </a:solidFill>
              </a:rPr>
              <a:t>0.072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64808" y="1984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Brier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39328" y="156362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E8FF"/>
                </a:solidFill>
              </a:rPr>
              <a:t>0.11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39328" y="1984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C2"/>
                </a:solidFill>
              </a:rPr>
              <a:t>Threshold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278892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090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Risk bands used in the demo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5FA"/>
                </a:solidFill>
              </a:rPr>
              <a:t>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23160" y="3721608"/>
            <a:ext cx="2743200" cy="146304"/>
          </a:xfrm>
          <a:prstGeom prst="roundRect">
            <a:avLst>
              <a:gd name="adj" fmla="val 25000"/>
            </a:avLst>
          </a:prstGeom>
          <a:solidFill>
            <a:srgbClr val="273244"/>
          </a:solidFill>
          <a:ln w="12700">
            <a:solidFill>
              <a:srgbClr val="27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23160" y="3721608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66C889"/>
          </a:solidFill>
          <a:ln w="12700">
            <a:solidFill>
              <a:srgbClr val="66C8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7800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0C2"/>
                </a:solidFill>
              </a:rPr>
              <a:t>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5FA"/>
                </a:solidFill>
              </a:rPr>
              <a:t>Moderate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23160" y="4178808"/>
            <a:ext cx="2743200" cy="146304"/>
          </a:xfrm>
          <a:prstGeom prst="roundRect">
            <a:avLst>
              <a:gd name="adj" fmla="val 25000"/>
            </a:avLst>
          </a:prstGeom>
          <a:solidFill>
            <a:srgbClr val="273244"/>
          </a:solidFill>
          <a:ln w="12700">
            <a:solidFill>
              <a:srgbClr val="27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23160" y="4178808"/>
            <a:ext cx="685800" cy="146304"/>
          </a:xfrm>
          <a:prstGeom prst="roundRect">
            <a:avLst>
              <a:gd name="adj" fmla="val 25000"/>
            </a:avLst>
          </a:prstGeom>
          <a:solidFill>
            <a:srgbClr val="E8CF61"/>
          </a:solidFill>
          <a:ln w="12700">
            <a:solidFill>
              <a:srgbClr val="E8C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41513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0C2"/>
                </a:solidFill>
              </a:rPr>
              <a:t>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617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5FA"/>
                </a:solidFill>
              </a:rPr>
              <a:t>High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23160" y="4636008"/>
            <a:ext cx="2743200" cy="146304"/>
          </a:xfrm>
          <a:prstGeom prst="roundRect">
            <a:avLst>
              <a:gd name="adj" fmla="val 25000"/>
            </a:avLst>
          </a:prstGeom>
          <a:solidFill>
            <a:srgbClr val="273244"/>
          </a:solidFill>
          <a:ln w="12700">
            <a:solidFill>
              <a:srgbClr val="27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23160" y="4636008"/>
            <a:ext cx="1371600" cy="146304"/>
          </a:xfrm>
          <a:prstGeom prst="roundRect">
            <a:avLst>
              <a:gd name="adj" fmla="val 25000"/>
            </a:avLst>
          </a:prstGeom>
          <a:solidFill>
            <a:srgbClr val="F0A545"/>
          </a:solidFill>
          <a:ln w="12700">
            <a:solidFill>
              <a:srgbClr val="F0A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57800" y="46085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0C2"/>
                </a:solidFill>
              </a:rPr>
              <a:t>50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5074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5FA"/>
                </a:solidFill>
              </a:rPr>
              <a:t>Very High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23160" y="5093208"/>
            <a:ext cx="2743200" cy="146304"/>
          </a:xfrm>
          <a:prstGeom prst="roundRect">
            <a:avLst>
              <a:gd name="adj" fmla="val 25000"/>
            </a:avLst>
          </a:prstGeom>
          <a:solidFill>
            <a:srgbClr val="273244"/>
          </a:solidFill>
          <a:ln w="12700">
            <a:solidFill>
              <a:srgbClr val="27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23160" y="5093208"/>
            <a:ext cx="2057400" cy="146304"/>
          </a:xfrm>
          <a:prstGeom prst="roundRect">
            <a:avLst>
              <a:gd name="adj" fmla="val 25000"/>
            </a:avLst>
          </a:prstGeom>
          <a:solidFill>
            <a:srgbClr val="EF5B5B"/>
          </a:solidFill>
          <a:ln w="1270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57800" y="50657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0C2"/>
                </a:solidFill>
              </a:rPr>
              <a:t>75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584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B0C2"/>
                </a:solidFill>
              </a:rPr>
              <a:t>The label translates probability into recommended planning behavior.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263640" y="2788920"/>
            <a:ext cx="5212080" cy="3337560"/>
          </a:xfrm>
          <a:prstGeom prst="roundRect">
            <a:avLst>
              <a:gd name="adj" fmla="val 3288"/>
            </a:avLst>
          </a:prstGeom>
          <a:solidFill>
            <a:srgbClr val="202B3B"/>
          </a:solidFill>
          <a:ln w="12700">
            <a:solidFill>
              <a:srgbClr val="33405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37960" y="3090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5FA"/>
                </a:solidFill>
              </a:rPr>
              <a:t>Prediction window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3796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E8FF"/>
                </a:solidFill>
              </a:rPr>
              <a:t>Today → today + 30 days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537960" y="45720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93992" y="46085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Forecast-based estimates where live features exist.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37960" y="49834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9B7FF"/>
                </a:solidFill>
              </a:rPr>
              <a:t>•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93992" y="5020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2F5FA"/>
                </a:solidFill>
              </a:rPr>
              <a:t>Climatology estimates fill the longer horizon.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07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ort_harbor_scene_at_dusk_or_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ports by risk,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2F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by guesswork.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6080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0C2"/>
                </a:solidFill>
              </a:rPr>
              <a:t>Anemoi — Caspian Maritime Delay-Risk Forecast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D8798"/>
                </a:solidFill>
              </a:rPr>
              <a:t>Anemoi  | 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721</Words>
  <Application>Microsoft Office PowerPoint</Application>
  <PresentationFormat>Widescreen</PresentationFormat>
  <Paragraphs>180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Anemoi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Anemoi Maritime Delay-Risk Forecast</dc:title>
  <dc:subject>Caspian Maritime Delay-Risk Forecast</dc:subject>
  <dc:creator>Anemoi</dc:creator>
  <cp:lastModifiedBy>Ayxan Muxtar</cp:lastModifiedBy>
  <cp:revision>6</cp:revision>
  <dcterms:created xsi:type="dcterms:W3CDTF">2026-05-03T17:23:30Z</dcterms:created>
  <dcterms:modified xsi:type="dcterms:W3CDTF">2026-05-04T13:26:29Z</dcterms:modified>
</cp:coreProperties>
</file>